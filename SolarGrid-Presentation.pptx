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be7b7d1404e67" /><Relationship Type="http://schemas.openxmlformats.org/officeDocument/2006/relationships/extended-properties" Target="/docProps/app.xml" Id="R826f14ad6b954d6f" /><Relationship Type="http://schemas.openxmlformats.org/officeDocument/2006/relationships/officeDocument" Target="/ppt/presentation.xml" Id="R263fa1c66781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039c4406d4fd9"/>
  </p:sldMasterIdLst>
  <p:notesMasterIdLst>
    <p:notesMasterId xmlns:r="http://schemas.openxmlformats.org/officeDocument/2006/relationships" r:id="R5a9d32281a86430d"/>
  </p:notesMasterIdLst>
  <p:sldIdLst>
    <p:sldId xmlns:r="http://schemas.openxmlformats.org/officeDocument/2006/relationships" id="256" r:id="R6cb8e6cd53e94796"/>
    <p:sldId xmlns:r="http://schemas.openxmlformats.org/officeDocument/2006/relationships" id="257" r:id="Rb3f7534987a74027"/>
    <p:sldId xmlns:r="http://schemas.openxmlformats.org/officeDocument/2006/relationships" id="258" r:id="R439e023a5482426b"/>
    <p:sldId xmlns:r="http://schemas.openxmlformats.org/officeDocument/2006/relationships" id="259" r:id="R019abb8f9a12468a"/>
    <p:sldId xmlns:r="http://schemas.openxmlformats.org/officeDocument/2006/relationships" id="260" r:id="R7ea23eacc72147e5"/>
    <p:sldId xmlns:r="http://schemas.openxmlformats.org/officeDocument/2006/relationships" id="261" r:id="R50232ad6f02b4652"/>
    <p:sldId xmlns:r="http://schemas.openxmlformats.org/officeDocument/2006/relationships" id="262" r:id="R45b5796665cd42f6"/>
    <p:sldId xmlns:r="http://schemas.openxmlformats.org/officeDocument/2006/relationships" id="263" r:id="R2fd1ecaaf7de4fb3"/>
    <p:sldId xmlns:r="http://schemas.openxmlformats.org/officeDocument/2006/relationships" id="264" r:id="R95a340781c104877"/>
    <p:sldId xmlns:r="http://schemas.openxmlformats.org/officeDocument/2006/relationships" id="265" r:id="R3cb528d9f963437b"/>
    <p:sldId xmlns:r="http://schemas.openxmlformats.org/officeDocument/2006/relationships" id="266" r:id="R5ac5d1abc0994ac2"/>
    <p:sldId xmlns:r="http://schemas.openxmlformats.org/officeDocument/2006/relationships" id="267" r:id="R926420d9b21d4f67"/>
    <p:sldId xmlns:r="http://schemas.openxmlformats.org/officeDocument/2006/relationships" id="268" r:id="Rb5e730c226c74d53"/>
    <p:sldId xmlns:r="http://schemas.openxmlformats.org/officeDocument/2006/relationships" id="269" r:id="R0ded4424026f41df"/>
    <p:sldId xmlns:r="http://schemas.openxmlformats.org/officeDocument/2006/relationships" id="270" r:id="R5b53e98c7df64068"/>
    <p:sldId xmlns:r="http://schemas.openxmlformats.org/officeDocument/2006/relationships" id="271" r:id="R6cff013ef3d34567"/>
    <p:sldId xmlns:r="http://schemas.openxmlformats.org/officeDocument/2006/relationships" id="272" r:id="Rdf608e97b5a44230"/>
    <p:sldId xmlns:r="http://schemas.openxmlformats.org/officeDocument/2006/relationships" id="273" r:id="Rdebc0d02f1874f8d"/>
    <p:sldId xmlns:r="http://schemas.openxmlformats.org/officeDocument/2006/relationships" id="274" r:id="R05550ef7e871426a"/>
    <p:sldId xmlns:r="http://schemas.openxmlformats.org/officeDocument/2006/relationships" id="275" r:id="Ra379fa270c1148a3"/>
    <p:sldId xmlns:r="http://schemas.openxmlformats.org/officeDocument/2006/relationships" id="276" r:id="Rc782e884f269434b"/>
    <p:sldId xmlns:r="http://schemas.openxmlformats.org/officeDocument/2006/relationships" id="277" r:id="R872de9a4a45f4aa5"/>
    <p:sldId xmlns:r="http://schemas.openxmlformats.org/officeDocument/2006/relationships" id="278" r:id="R98ad235bbfaf42e6"/>
    <p:sldId xmlns:r="http://schemas.openxmlformats.org/officeDocument/2006/relationships" id="279" r:id="R224525de9bdf4237"/>
    <p:sldId xmlns:r="http://schemas.openxmlformats.org/officeDocument/2006/relationships" id="280" r:id="R9f0c0ea1b4744c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c107c644d4dc1" /><Relationship Type="http://schemas.openxmlformats.org/officeDocument/2006/relationships/slideMaster" Target="/ppt/slideMasters/slideMaster1.xml" Id="R3ec039c4406d4fd9" /><Relationship Type="http://schemas.openxmlformats.org/officeDocument/2006/relationships/notesMaster" Target="/ppt/notesMasters/notesMaster1.xml" Id="R5a9d32281a86430d" /><Relationship Type="http://schemas.openxmlformats.org/officeDocument/2006/relationships/presProps" Target="/ppt/presProps.xml" Id="Rfe7bea73e62b4146" /><Relationship Type="http://schemas.openxmlformats.org/officeDocument/2006/relationships/viewProps" Target="/ppt/viewProps.xml" Id="R7fbf6e444fab46f4" /><Relationship Type="http://schemas.openxmlformats.org/officeDocument/2006/relationships/tableStyles" Target="/ppt/tableStyles.xml" Id="R7dcc8a8311084dcb" /><Relationship Type="http://schemas.openxmlformats.org/officeDocument/2006/relationships/slide" Target="/ppt/slides/slide1.xml" Id="R6cb8e6cd53e94796" /><Relationship Type="http://schemas.openxmlformats.org/officeDocument/2006/relationships/slide" Target="/ppt/slides/slide2.xml" Id="Rb3f7534987a74027" /><Relationship Type="http://schemas.openxmlformats.org/officeDocument/2006/relationships/slide" Target="/ppt/slides/slide3.xml" Id="R439e023a5482426b" /><Relationship Type="http://schemas.openxmlformats.org/officeDocument/2006/relationships/slide" Target="/ppt/slides/slide4.xml" Id="R019abb8f9a12468a" /><Relationship Type="http://schemas.openxmlformats.org/officeDocument/2006/relationships/slide" Target="/ppt/slides/slide5.xml" Id="R7ea23eacc72147e5" /><Relationship Type="http://schemas.openxmlformats.org/officeDocument/2006/relationships/slide" Target="/ppt/slides/slide6.xml" Id="R50232ad6f02b4652" /><Relationship Type="http://schemas.openxmlformats.org/officeDocument/2006/relationships/slide" Target="/ppt/slides/slide7.xml" Id="R45b5796665cd42f6" /><Relationship Type="http://schemas.openxmlformats.org/officeDocument/2006/relationships/slide" Target="/ppt/slides/slide8.xml" Id="R2fd1ecaaf7de4fb3" /><Relationship Type="http://schemas.openxmlformats.org/officeDocument/2006/relationships/slide" Target="/ppt/slides/slide9.xml" Id="R95a340781c104877" /><Relationship Type="http://schemas.openxmlformats.org/officeDocument/2006/relationships/slide" Target="/ppt/slides/slide10.xml" Id="R3cb528d9f963437b" /><Relationship Type="http://schemas.openxmlformats.org/officeDocument/2006/relationships/slide" Target="/ppt/slides/slide11.xml" Id="R5ac5d1abc0994ac2" /><Relationship Type="http://schemas.openxmlformats.org/officeDocument/2006/relationships/slide" Target="/ppt/slides/slide12.xml" Id="R926420d9b21d4f67" /><Relationship Type="http://schemas.openxmlformats.org/officeDocument/2006/relationships/slide" Target="/ppt/slides/slide13.xml" Id="Rb5e730c226c74d53" /><Relationship Type="http://schemas.openxmlformats.org/officeDocument/2006/relationships/slide" Target="/ppt/slides/slide14.xml" Id="R0ded4424026f41df" /><Relationship Type="http://schemas.openxmlformats.org/officeDocument/2006/relationships/slide" Target="/ppt/slides/slide15.xml" Id="R5b53e98c7df64068" /><Relationship Type="http://schemas.openxmlformats.org/officeDocument/2006/relationships/slide" Target="/ppt/slides/slide16.xml" Id="R6cff013ef3d34567" /><Relationship Type="http://schemas.openxmlformats.org/officeDocument/2006/relationships/slide" Target="/ppt/slides/slide17.xml" Id="Rdf608e97b5a44230" /><Relationship Type="http://schemas.openxmlformats.org/officeDocument/2006/relationships/slide" Target="/ppt/slides/slide18.xml" Id="Rdebc0d02f1874f8d" /><Relationship Type="http://schemas.openxmlformats.org/officeDocument/2006/relationships/slide" Target="/ppt/slides/slide19.xml" Id="R05550ef7e871426a" /><Relationship Type="http://schemas.openxmlformats.org/officeDocument/2006/relationships/slide" Target="/ppt/slides/slide20.xml" Id="Ra379fa270c1148a3" /><Relationship Type="http://schemas.openxmlformats.org/officeDocument/2006/relationships/slide" Target="/ppt/slides/slide21.xml" Id="Rc782e884f269434b" /><Relationship Type="http://schemas.openxmlformats.org/officeDocument/2006/relationships/slide" Target="/ppt/slides/slide22.xml" Id="R872de9a4a45f4aa5" /><Relationship Type="http://schemas.openxmlformats.org/officeDocument/2006/relationships/slide" Target="/ppt/slides/slide23.xml" Id="R98ad235bbfaf42e6" /><Relationship Type="http://schemas.openxmlformats.org/officeDocument/2006/relationships/slide" Target="/ppt/slides/slide24.xml" Id="R224525de9bdf4237" /><Relationship Type="http://schemas.openxmlformats.org/officeDocument/2006/relationships/slide" Target="/ppt/slides/slide25.xml" Id="R9f0c0ea1b4744c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48e6ef6e54a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1d6ab2571a444f" /><Relationship Type="http://schemas.openxmlformats.org/officeDocument/2006/relationships/notesMaster" Target="/ppt/notesMasters/notesMaster1.xml" Id="Rb905bc659ede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3a45f984e43e2" /><Relationship Type="http://schemas.openxmlformats.org/officeDocument/2006/relationships/notesMaster" Target="/ppt/notesMasters/notesMaster1.xml" Id="R8a1ebde7b42b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73666dd794b08" /><Relationship Type="http://schemas.openxmlformats.org/officeDocument/2006/relationships/notesMaster" Target="/ppt/notesMasters/notesMaster1.xml" Id="Rcf33353d730e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f8bba27bf4600" /><Relationship Type="http://schemas.openxmlformats.org/officeDocument/2006/relationships/notesMaster" Target="/ppt/notesMasters/notesMaster1.xml" Id="Re7de3289d2a2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8e9f2557e04d61" /><Relationship Type="http://schemas.openxmlformats.org/officeDocument/2006/relationships/notesMaster" Target="/ppt/notesMasters/notesMaster1.xml" Id="R38e2ff30d86f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b260de2e24299" /><Relationship Type="http://schemas.openxmlformats.org/officeDocument/2006/relationships/notesMaster" Target="/ppt/notesMasters/notesMaster1.xml" Id="R43e5acf1481e40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d18e6738bf4902" /><Relationship Type="http://schemas.openxmlformats.org/officeDocument/2006/relationships/notesMaster" Target="/ppt/notesMasters/notesMaster1.xml" Id="Rc7a2d482e00b49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2548534d55478c" /><Relationship Type="http://schemas.openxmlformats.org/officeDocument/2006/relationships/notesMaster" Target="/ppt/notesMasters/notesMaster1.xml" Id="R8329f6d4311046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d5fce625e40d5" /><Relationship Type="http://schemas.openxmlformats.org/officeDocument/2006/relationships/notesMaster" Target="/ppt/notesMasters/notesMaster1.xml" Id="R3c15aae4027544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c9b4d0f0274f1b" /><Relationship Type="http://schemas.openxmlformats.org/officeDocument/2006/relationships/notesMaster" Target="/ppt/notesMasters/notesMaster1.xml" Id="R0d0328ca7e344c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83db4cc1f14b4c" /><Relationship Type="http://schemas.openxmlformats.org/officeDocument/2006/relationships/notesMaster" Target="/ppt/notesMasters/notesMaster1.xml" Id="R1e339e32db864d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0c02b7845245b2" /><Relationship Type="http://schemas.openxmlformats.org/officeDocument/2006/relationships/notesMaster" Target="/ppt/notesMasters/notesMaster1.xml" Id="R49c4977e709745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7c62801480413a" /><Relationship Type="http://schemas.openxmlformats.org/officeDocument/2006/relationships/notesMaster" Target="/ppt/notesMasters/notesMaster1.xml" Id="Rdede4cf3539142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654ba471f54ff3" /><Relationship Type="http://schemas.openxmlformats.org/officeDocument/2006/relationships/notesMaster" Target="/ppt/notesMasters/notesMaster1.xml" Id="R68766962b93c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b22acb1809499d" /><Relationship Type="http://schemas.openxmlformats.org/officeDocument/2006/relationships/notesMaster" Target="/ppt/notesMasters/notesMaster1.xml" Id="R6f45517b27a640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cd4fb72d944072" /><Relationship Type="http://schemas.openxmlformats.org/officeDocument/2006/relationships/notesMaster" Target="/ppt/notesMasters/notesMaster1.xml" Id="R2e294f7fbf8047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ef54c9443b4072" /><Relationship Type="http://schemas.openxmlformats.org/officeDocument/2006/relationships/notesMaster" Target="/ppt/notesMasters/notesMaster1.xml" Id="R190525ed819f48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48bbc1e144421d" /><Relationship Type="http://schemas.openxmlformats.org/officeDocument/2006/relationships/notesMaster" Target="/ppt/notesMasters/notesMaster1.xml" Id="R4cf6559d1c8240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3f421de89d479d" /><Relationship Type="http://schemas.openxmlformats.org/officeDocument/2006/relationships/notesMaster" Target="/ppt/notesMasters/notesMaster1.xml" Id="R224dfb8f18c641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661b74b1714f78" /><Relationship Type="http://schemas.openxmlformats.org/officeDocument/2006/relationships/notesMaster" Target="/ppt/notesMasters/notesMaster1.xml" Id="Ra12c1a34e5a247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80ce54c57249d9" /><Relationship Type="http://schemas.openxmlformats.org/officeDocument/2006/relationships/notesMaster" Target="/ppt/notesMasters/notesMaster1.xml" Id="Rbb4195459cb144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d9ca451bd14539" /><Relationship Type="http://schemas.openxmlformats.org/officeDocument/2006/relationships/notesMaster" Target="/ppt/notesMasters/notesMaster1.xml" Id="Rc31a6e99fd5046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ac169b5acc4e9a" /><Relationship Type="http://schemas.openxmlformats.org/officeDocument/2006/relationships/notesMaster" Target="/ppt/notesMasters/notesMaster1.xml" Id="Re50cd2ef73734c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7178d692ce4479" /><Relationship Type="http://schemas.openxmlformats.org/officeDocument/2006/relationships/notesMaster" Target="/ppt/notesMasters/notesMaster1.xml" Id="Rb21f984383d34c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9d9cf5db31487e" /><Relationship Type="http://schemas.openxmlformats.org/officeDocument/2006/relationships/notesMaster" Target="/ppt/notesMasters/notesMaster1.xml" Id="Ra0f150da7de2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Sources: SolarGrid technical report (1 October 2026), implemented SQL and application files; IT212 assignment brief, Lumbwe (2026). September 30 results were confirmed by the operator; videos have not been independently reviewed. Concurrency and crash recovery are not claimed as tested.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95ce7820448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01985708743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b93f5a2e541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a4fc4552647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c0ffa3491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722b85be44e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8792afe1d46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e617a73ae4c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e060bc3ee45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e5ae428244dc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2a51fdd934ee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E0B307-D397-4C06-92CF-0BFE8A3953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7FC154-C856-4998-BB9B-FC8EE17D79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914400" indent="0" algn="ctr">
              <a:buNone/>
              <a:defRPr sz="1800">
                <a:latin typeface="Arial"/>
                <a:ea typeface="Arial"/>
                <a:cs typeface="Arial"/>
              </a:defRPr>
            </a:lvl3pPr>
            <a:lvl4pPr marL="1371600" indent="0" algn="ctr">
              <a:buNone/>
              <a:defRPr sz="1600">
                <a:latin typeface="Arial"/>
                <a:ea typeface="Arial"/>
                <a:cs typeface="Arial"/>
              </a:defRPr>
            </a:lvl4pPr>
            <a:lvl5pPr marL="1828800" indent="0" algn="ctr">
              <a:buNone/>
              <a:defRPr sz="1600">
                <a:latin typeface="Arial"/>
                <a:ea typeface="Arial"/>
                <a:cs typeface="Arial"/>
              </a:defRPr>
            </a:lvl5pPr>
            <a:lvl6pPr marL="2286000" indent="0" algn="ctr">
              <a:buNone/>
              <a:defRPr sz="1600">
                <a:latin typeface="Arial"/>
                <a:ea typeface="Arial"/>
                <a:cs typeface="Arial"/>
              </a:defRPr>
            </a:lvl6pPr>
            <a:lvl7pPr marL="2743200" indent="0" algn="ctr">
              <a:buNone/>
              <a:defRPr sz="1600">
                <a:latin typeface="Arial"/>
                <a:ea typeface="Arial"/>
                <a:cs typeface="Arial"/>
              </a:defRPr>
            </a:lvl7pPr>
            <a:lvl8pPr marL="3200400" indent="0" algn="ctr">
              <a:buNone/>
              <a:defRPr sz="1600">
                <a:latin typeface="Arial"/>
                <a:ea typeface="Arial"/>
                <a:cs typeface="Arial"/>
              </a:defRPr>
            </a:lvl8pPr>
            <a:lvl9pPr marL="3657600" indent="0" algn="ctr">
              <a:buNone/>
              <a:defRPr sz="1600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subtitle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DBD174-BDC3-4E70-ADE7-3CC6AE1446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8AF43E-7510-43E9-BBA6-D75EF2C21B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44B2B8-F381-437B-8D2B-1789D7074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FCFB8E-1926-43A7-98A2-C385224D4F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65A144-4E5E-4893-B137-A8D8EE2379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5608DB-6652-47D9-8C5B-C8206D6E59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5AFB1B-456A-4CF6-82AC-50EB29E1D2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A046DE-8D9C-4B5C-89B2-5FBE78EC00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F1DCAB-1288-42D4-A3AF-5A8682C56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F88602-1C3D-4FC7-97E8-5F0BEE580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C9D034-2CF1-4FE3-804F-669DCFDEA1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7CE644-A7AD-4DFA-964A-310D0CD725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8DA565-7439-4287-AECC-14FADC6B0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C06ED3-0D59-429F-BF87-BAD179718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5DB174-A905-4A31-B2C9-4908DCB31F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948141-D4D0-4F1F-B7FA-9CF013A0FB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7BD55C-4A61-494A-9066-397FC686AA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9720B6-4DCB-45A0-A996-850CCD6F0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796001A-2151-4C2F-BE52-8FE5D0716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B106CD-955D-4EED-9027-2FA75DB87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C6E892-E5CD-4127-93C8-2DC747AD7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1800" b="1"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1600" b="1"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1600" b="1"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1600" b="1"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1600" b="1"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1600" b="1"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160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51F3054-B503-460B-9868-2BFB0B67B5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EA918FD-BE75-45AF-90DC-4F7DEFCB387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1800" b="1"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1600" b="1"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1600" b="1"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1600" b="1"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1600" b="1"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1600" b="1"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160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A7EDF37-C8F3-460D-8314-604C8874C3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B2ABB6C-B475-4BB1-A67F-6F8E0DC6A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EFA0645-EF35-453E-93AC-3AAF23B597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84DF8BD-F48F-4824-8BEA-2D77439549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ABEB33-E7CD-4E02-B239-C607DB3AB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DAAFBD6-0A3B-48A5-BB53-A936C39430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594552F-6B13-4BE0-ADA3-C054FF1CAC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94B5EE0-36C6-49CC-B477-F35E7161E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C74E20-3C6E-4F5E-B727-A544238493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A32AC72-C54B-4A03-90F7-F669F46DF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6281599-5E5B-4C05-A8B0-38354B5022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A61D83-EFE6-4994-8CC2-A109BBF2A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15FECD-B3AE-4180-877D-ABD554AAA0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latin typeface="Arial"/>
                <a:ea typeface="Arial"/>
                <a:cs typeface="Arial"/>
              </a:defRPr>
            </a:lvl1pPr>
            <a:lvl2pPr>
              <a:buNone/>
              <a:defRPr sz="2800">
                <a:latin typeface="Arial"/>
                <a:ea typeface="Arial"/>
                <a:cs typeface="Arial"/>
              </a:defRPr>
            </a:lvl2pPr>
            <a:lvl3pPr>
              <a:buNone/>
              <a:defRPr sz="2400">
                <a:latin typeface="Arial"/>
                <a:ea typeface="Arial"/>
                <a:cs typeface="Arial"/>
              </a:defRPr>
            </a:lvl3pPr>
            <a:lvl4pPr>
              <a:buNone/>
              <a:defRPr sz="2000">
                <a:latin typeface="Arial"/>
                <a:ea typeface="Arial"/>
                <a:cs typeface="Arial"/>
              </a:defRPr>
            </a:lvl4pPr>
            <a:lvl5pPr>
              <a:buNone/>
              <a:defRPr sz="2000">
                <a:latin typeface="Arial"/>
                <a:ea typeface="Arial"/>
                <a:cs typeface="Arial"/>
              </a:defRPr>
            </a:lvl5pPr>
            <a:lvl6pPr>
              <a:buNone/>
              <a:defRPr sz="2000">
                <a:latin typeface="Arial"/>
                <a:ea typeface="Arial"/>
                <a:cs typeface="Arial"/>
              </a:defRPr>
            </a:lvl6pPr>
            <a:lvl7pPr>
              <a:buNone/>
              <a:defRPr sz="2000">
                <a:latin typeface="Arial"/>
                <a:ea typeface="Arial"/>
                <a:cs typeface="Arial"/>
              </a:defRPr>
            </a:lvl7pPr>
            <a:lvl8pPr>
              <a:buNone/>
              <a:defRPr sz="2000">
                <a:latin typeface="Arial"/>
                <a:ea typeface="Arial"/>
                <a:cs typeface="Arial"/>
              </a:defRPr>
            </a:lvl8pPr>
            <a:lvl9pPr>
              <a:buNone/>
              <a:defRPr sz="2000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2479A8-F985-4388-A7D8-F73E8F82C7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1200"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1000"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1000"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1000"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1000"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1000"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1000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98DEBD-5B6A-453D-B482-4C87D3E0B9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559CC5-7EE6-4D8C-A085-BF0DCE5E4C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BECD6D6-E582-4721-AB08-1323C03EB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FECE1-2ACC-4632-82C7-48B281536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BC71C72-CE15-4C79-AEDA-572E26CC20C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800"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2400"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2000"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2000"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2000"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2000"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2000"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2000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7E38F0-3976-482E-A1EB-68BB13727B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400">
                <a:latin typeface="Arial"/>
                <a:ea typeface="Arial"/>
                <a:cs typeface="Arial"/>
              </a:defRPr>
            </a:lvl2pPr>
            <a:lvl3pPr marL="914400" indent="0">
              <a:buNone/>
              <a:defRPr sz="1200">
                <a:latin typeface="Arial"/>
                <a:ea typeface="Arial"/>
                <a:cs typeface="Arial"/>
              </a:defRPr>
            </a:lvl3pPr>
            <a:lvl4pPr marL="1371600" indent="0">
              <a:buNone/>
              <a:defRPr sz="1000">
                <a:latin typeface="Arial"/>
                <a:ea typeface="Arial"/>
                <a:cs typeface="Arial"/>
              </a:defRPr>
            </a:lvl4pPr>
            <a:lvl5pPr marL="1828800" indent="0">
              <a:buNone/>
              <a:defRPr sz="1000">
                <a:latin typeface="Arial"/>
                <a:ea typeface="Arial"/>
                <a:cs typeface="Arial"/>
              </a:defRPr>
            </a:lvl5pPr>
            <a:lvl6pPr marL="2286000" indent="0">
              <a:buNone/>
              <a:defRPr sz="1000">
                <a:latin typeface="Arial"/>
                <a:ea typeface="Arial"/>
                <a:cs typeface="Arial"/>
              </a:defRPr>
            </a:lvl6pPr>
            <a:lvl7pPr marL="2743200" indent="0">
              <a:buNone/>
              <a:defRPr sz="1000">
                <a:latin typeface="Arial"/>
                <a:ea typeface="Arial"/>
                <a:cs typeface="Arial"/>
              </a:defRPr>
            </a:lvl7pPr>
            <a:lvl8pPr marL="3200400" indent="0">
              <a:buNone/>
              <a:defRPr sz="1000">
                <a:latin typeface="Arial"/>
                <a:ea typeface="Arial"/>
                <a:cs typeface="Arial"/>
              </a:defRPr>
            </a:lvl8pPr>
            <a:lvl9pPr marL="3657600" indent="0">
              <a:buNone/>
              <a:defRPr sz="1000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662199-CE9D-4F52-A1A4-01571BCC23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C02698-6FB3-4588-9B5A-62335BB3B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14A4D7B-8D88-4376-8141-B7FCCFCFD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9C4FAF-CAAD-444B-B513-36FE690B2A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950C08-CEBE-479F-9550-40693883B3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5B3513-63FE-4FAA-A0BD-F84FA36BEA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3B7C44-3255-49D7-BD91-E43F6D2E7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0F3C9F-954C-46D2-AD5A-6E255A783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79348A-90FC-4F5D-828D-FAF1B48EA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BA7C69-9B14-4FA9-8C55-FC5317105F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C269A1-A35F-4FCF-8A96-D3017B1DA9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7DFC3-C283-46C9-85D9-8A47BCB0AC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0D699F-0F69-473C-95DB-F80715029C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a17380caed443b" /><Relationship Type="http://schemas.openxmlformats.org/officeDocument/2006/relationships/slideLayout" Target="/ppt/slideLayouts/slideLayout1.xml" Id="Ra92e7c92ac3f4403" /><Relationship Type="http://schemas.openxmlformats.org/officeDocument/2006/relationships/slideLayout" Target="/ppt/slideLayouts/slideLayout2.xml" Id="R3de7c175de7148a4" /><Relationship Type="http://schemas.openxmlformats.org/officeDocument/2006/relationships/slideLayout" Target="/ppt/slideLayouts/slideLayout3.xml" Id="R701fd764ef774409" /><Relationship Type="http://schemas.openxmlformats.org/officeDocument/2006/relationships/slideLayout" Target="/ppt/slideLayouts/slideLayout4.xml" Id="R7334a0b51e0940c6" /><Relationship Type="http://schemas.openxmlformats.org/officeDocument/2006/relationships/slideLayout" Target="/ppt/slideLayouts/slideLayout5.xml" Id="Re94dd90aeec84e04" /><Relationship Type="http://schemas.openxmlformats.org/officeDocument/2006/relationships/slideLayout" Target="/ppt/slideLayouts/slideLayout6.xml" Id="R935463da72cb4ea5" /><Relationship Type="http://schemas.openxmlformats.org/officeDocument/2006/relationships/slideLayout" Target="/ppt/slideLayouts/slideLayout7.xml" Id="R92533fcddadf4958" /><Relationship Type="http://schemas.openxmlformats.org/officeDocument/2006/relationships/slideLayout" Target="/ppt/slideLayouts/slideLayout8.xml" Id="R72e1f2bfd167411a" /><Relationship Type="http://schemas.openxmlformats.org/officeDocument/2006/relationships/slideLayout" Target="/ppt/slideLayouts/slideLayout9.xml" Id="R01c1cb991cc64a27" /><Relationship Type="http://schemas.openxmlformats.org/officeDocument/2006/relationships/slideLayout" Target="/ppt/slideLayouts/slideLayout10.xml" Id="R02100bb757c74afd" /><Relationship Type="http://schemas.openxmlformats.org/officeDocument/2006/relationships/slideLayout" Target="/ppt/slideLayouts/slideLayout11.xml" Id="R810e999fd5dc41c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2B3CA69-6295-4BCC-9F8D-8668B8DB2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t>Click to edit Master title style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713A4B-FF6A-487B-B18E-0E3B349A3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t>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t>Fifth level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E74E82-E75F-4F30-B8C9-69FE602BFF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9B2C4D6-E04C-4103-A094-58D7946E721B}" type="datetimeFigureOut">
              <a:t>12/09/2026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8A1EE3-79FB-4554-AFD2-93A7E18E72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80F0F0-4C09-48F5-8902-102B1BB99D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C83133C1-BA3A-4CD7-AE47-40B37943E6AA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e7c92ac3f4403"/>
    <p:sldLayoutId xmlns:r="http://schemas.openxmlformats.org/officeDocument/2006/relationships" id="2147483650" r:id="R3de7c175de7148a4"/>
    <p:sldLayoutId xmlns:r="http://schemas.openxmlformats.org/officeDocument/2006/relationships" id="2147483651" r:id="R701fd764ef774409"/>
    <p:sldLayoutId xmlns:r="http://schemas.openxmlformats.org/officeDocument/2006/relationships" id="2147483652" r:id="R7334a0b51e0940c6"/>
    <p:sldLayoutId xmlns:r="http://schemas.openxmlformats.org/officeDocument/2006/relationships" id="2147483653" r:id="Re94dd90aeec84e04"/>
    <p:sldLayoutId xmlns:r="http://schemas.openxmlformats.org/officeDocument/2006/relationships" id="2147483654" r:id="R935463da72cb4ea5"/>
    <p:sldLayoutId xmlns:r="http://schemas.openxmlformats.org/officeDocument/2006/relationships" id="2147483655" r:id="R92533fcddadf4958"/>
    <p:sldLayoutId xmlns:r="http://schemas.openxmlformats.org/officeDocument/2006/relationships" id="2147483656" r:id="R72e1f2bfd167411a"/>
    <p:sldLayoutId xmlns:r="http://schemas.openxmlformats.org/officeDocument/2006/relationships" id="2147483657" r:id="R01c1cb991cc64a27"/>
    <p:sldLayoutId xmlns:r="http://schemas.openxmlformats.org/officeDocument/2006/relationships" id="2147483658" r:id="R02100bb757c74afd"/>
    <p:sldLayoutId xmlns:r="http://schemas.openxmlformats.org/officeDocument/2006/relationships" id="2147483659" r:id="R810e999fd5dc41c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8669b7b2e040b2" /><Relationship Type="http://schemas.openxmlformats.org/officeDocument/2006/relationships/notesSlide" Target="/ppt/notesSlides/notesSlide1.xml" Id="R07ea66ff9711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0f31922c154cf9" /><Relationship Type="http://schemas.openxmlformats.org/officeDocument/2006/relationships/notesSlide" Target="/ppt/notesSlides/notesSlide2.xml" Id="R959f02be4a1943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1f52021d964d30" /><Relationship Type="http://schemas.openxmlformats.org/officeDocument/2006/relationships/notesSlide" Target="/ppt/notesSlides/notesSlide3.xml" Id="Rd33d9d9b051042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2e1059ba474457" /><Relationship Type="http://schemas.openxmlformats.org/officeDocument/2006/relationships/notesSlide" Target="/ppt/notesSlides/notesSlide4.xml" Id="Rd6fcea61a55248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2865e09f124f47" /><Relationship Type="http://schemas.openxmlformats.org/officeDocument/2006/relationships/notesSlide" Target="/ppt/notesSlides/notesSlide5.xml" Id="R2e82fecca2c24b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3e15f256a844fa" /><Relationship Type="http://schemas.openxmlformats.org/officeDocument/2006/relationships/notesSlide" Target="/ppt/notesSlides/notesSlide6.xml" Id="R2c8e1a464a4843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3e9c07ad8047bf" /><Relationship Type="http://schemas.openxmlformats.org/officeDocument/2006/relationships/notesSlide" Target="/ppt/notesSlides/notesSlide7.xml" Id="R37c357a45cfe49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8b5990eb44414b" /><Relationship Type="http://schemas.openxmlformats.org/officeDocument/2006/relationships/notesSlide" Target="/ppt/notesSlides/notesSlide8.xml" Id="R80e3cb03bdfa47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73335ac25d4e17" /><Relationship Type="http://schemas.openxmlformats.org/officeDocument/2006/relationships/notesSlide" Target="/ppt/notesSlides/notesSlide9.xml" Id="R79acfb98b1d846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3746610dbf4739" /><Relationship Type="http://schemas.openxmlformats.org/officeDocument/2006/relationships/notesSlide" Target="/ppt/notesSlides/notesSlide10.xml" Id="R2d6c7072038e4e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49b4c63ca5406d" /><Relationship Type="http://schemas.openxmlformats.org/officeDocument/2006/relationships/notesSlide" Target="/ppt/notesSlides/notesSlide11.xml" Id="R5f5d848d074d49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feb879b36e42d3" /><Relationship Type="http://schemas.openxmlformats.org/officeDocument/2006/relationships/notesSlide" Target="/ppt/notesSlides/notesSlide12.xml" Id="R3ac0a29cb11040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112a4739124316" /><Relationship Type="http://schemas.openxmlformats.org/officeDocument/2006/relationships/notesSlide" Target="/ppt/notesSlides/notesSlide13.xml" Id="R81934afab1b940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f9191916a94a70" /><Relationship Type="http://schemas.openxmlformats.org/officeDocument/2006/relationships/notesSlide" Target="/ppt/notesSlides/notesSlide14.xml" Id="Rf7c8e2d037544b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680a62afe0448d" /><Relationship Type="http://schemas.openxmlformats.org/officeDocument/2006/relationships/notesSlide" Target="/ppt/notesSlides/notesSlide15.xml" Id="R410591f537b642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5270b5098540ab" /><Relationship Type="http://schemas.openxmlformats.org/officeDocument/2006/relationships/notesSlide" Target="/ppt/notesSlides/notesSlide16.xml" Id="R1d272282688c4c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bbc21ff92c410b" /><Relationship Type="http://schemas.openxmlformats.org/officeDocument/2006/relationships/notesSlide" Target="/ppt/notesSlides/notesSlide17.xml" Id="R03c169b4ad8048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d80d86884542ca" /><Relationship Type="http://schemas.openxmlformats.org/officeDocument/2006/relationships/notesSlide" Target="/ppt/notesSlides/notesSlide18.xml" Id="Rc7f87fd4908040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bf49ff6c8c4e2b" /><Relationship Type="http://schemas.openxmlformats.org/officeDocument/2006/relationships/notesSlide" Target="/ppt/notesSlides/notesSlide19.xml" Id="R8fb0b107e2a049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62a99a320d4bf1" /><Relationship Type="http://schemas.openxmlformats.org/officeDocument/2006/relationships/notesSlide" Target="/ppt/notesSlides/notesSlide20.xml" Id="Rc7291c3ae80843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812ac13ae84c89" /><Relationship Type="http://schemas.openxmlformats.org/officeDocument/2006/relationships/notesSlide" Target="/ppt/notesSlides/notesSlide21.xml" Id="R8b97dfdfcd1d4a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b0d685e8c1406e" /><Relationship Type="http://schemas.openxmlformats.org/officeDocument/2006/relationships/notesSlide" Target="/ppt/notesSlides/notesSlide22.xml" Id="R6b203b00a70e45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3ac08e23a044c4" /><Relationship Type="http://schemas.openxmlformats.org/officeDocument/2006/relationships/notesSlide" Target="/ppt/notesSlides/notesSlide23.xml" Id="R3fcc540d8bf545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b3978e66d141a7" /><Relationship Type="http://schemas.openxmlformats.org/officeDocument/2006/relationships/notesSlide" Target="/ppt/notesSlides/notesSlide24.xml" Id="Radea2885b5d649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9740bdc0b64857" /><Relationship Type="http://schemas.openxmlformats.org/officeDocument/2006/relationships/notesSlide" Target="/ppt/notesSlides/notesSlide25.xml" Id="R5c73c4ea2eea40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C626961-ED7B-4624-B5C5-C55E9A9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3" y="1907316"/>
            <a:ext cx="7174888" cy="170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55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SolarGrid
Service Management</a:t>
            </a:r>
            <a:endParaRPr sz="55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DD1144-4F25-46BF-822B-ABAF214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3" y="5264722"/>
            <a:ext cx="6910483" cy="600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IT212 Database Management Systems
Group 1 · MySQL</a:t>
            </a:r>
            <a:endParaRPr sz="19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A53CE7-6EBC-4E90-9949-976289A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system | October 2026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071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purpose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problem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00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spreadsheets and paper files make it difficult to track installed equipment, warranties and unpaid invoices.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system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00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A MySQL database and Flask application manage installations, service work and customer payments.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031CD8-EC3F-4A6A-9E70-A8CD4B08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D0F802-F0A2-4341-8AD3-31FDA47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 and design assumptions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2CABAD4-0878-4190-B0E9-BA9B537B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Included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650A4D-356D-436C-8801-DED3F6B9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Customers and sites
Serialized equipment
Installations and technicians
Maintenance and warranties
Invoices and payments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F555065-7EDB-44D1-A892-1CA786C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Initial boundaries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01F7F32-7767-4E79-AA14-E75F7B93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Allocate equipment at completion
One customer per site
One invoice per payment
ZMW amounts
Refunds and tax calculations excluded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309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D53757-42FF-4529-B3A3-389CB2F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743DED-3A5A-4F86-8743-437F7E1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15-table structure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Table 3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853440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Tables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locations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customers, sites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Equipment and jobs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equipment_types, equipment_units, installations, installation_equipment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Technician work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technicians, installation_technicians, service_requests, service_request_technicians, maintenance_records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Billing and access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invoices, invoice_items, payments, app_users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36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77FB61-0C9E-4B0B-9AE4-AE2DB18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EA0BF4-25CC-437D-A005-A27CBBCC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ERD: customers and equipment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27B4E3-34F0-4ED2-BFC6-5FC8C578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2654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1: one     0..*: zero or many     0..1: optional</a:t>
            </a:r>
            <a:endParaRPr sz="172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C61D77-CE97-4676-9820-B10EAA82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D332F55-E9A4-462A-983A-FA5B7648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4CC9F9-478D-49DA-B779-A25DD73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B26D1F06-7A73-41A2-B791-A134906E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4FA6-335E-47B4-BE17-3DCE0BED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94532A4-E5F9-4662-8ECF-7BC74984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8A9DE7-A395-4109-A963-43FA42FD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F31D792-8F64-4385-B17B-104F51E8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equipment_​types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8C18DB5-F943-4C0E-9FA4-7E10D2D6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equipment_​units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CD25535-378B-4E6F-977A-1A4255C0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installation_​equipment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DCDF82C4-3366-4EE2-8A9F-38DFEE3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7674AB-E168-4314-BD14-B413C31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C3A3C24A-839B-49D9-88C1-10DF27D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4288D1-D285-4587-B2B5-669F6F9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7F387D1-A6E5-45E2-9419-B38ADD64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93F384-24BB-49A8-B73C-756C0D0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installation_​equipment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8799C25D-FC51-4834-A48B-0E477FE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4347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88B3817-3A61-4591-8E24-90A7950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2129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3B3479F-201D-4263-AA3B-E477DE6F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919DF4-94E9-4DE1-A9EA-292FDF5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ERD: technicians and maintenance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5BB61C-83F7-4C55-BF2A-E228DB3E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2654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 sz="172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30099B-E484-4580-A5FA-F0938F7F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82EA09F-536F-412F-951E-135604F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installation_​technicians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5C16EA-334C-441D-BAE5-5E2E9C68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technicians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8E9FDA62-89F0-4448-AE03-DDD31B84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165A9A-4079-468B-AC32-A591938F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61C16D47-1BE4-4DE7-A05E-14EB796E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74C3-96A7-4B69-9E4C-ABC63CD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0..* : 1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D2615C4-43AE-4678-B24C-D2C074BD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0B89D88-BD12-4680-92EA-C3A1981B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service_​requests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65AC525-B62D-492E-9FF8-0A8214E8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service_​request_​technicians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1667139-E9FA-4B11-80B5-2A1AD597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E77DBC-0FBE-4BEB-9874-19712CB4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5985B33-829D-40E8-ABAB-0C35D16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3CB130-A346-47F6-BD2A-5F486B2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2791840-CE99-4CC4-A53A-E37A121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technicians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CB27612-6D6A-486D-BFAD-71498A1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service_​request_​technicians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B25802-9C6C-4270-8877-B4E2ACEA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maintenance_​records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A4932CA-71EA-4A1E-9B8E-A8DBEBF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4347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3689085-C25D-4754-A9ED-B92378DA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6FB02C70-41A2-4A53-B972-998C66F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4347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090E665-B243-4B3F-AEE3-D9E36976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34340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146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409F415-EEA3-42FC-A909-024B41D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8B86081-940E-49BF-B5AB-58AE0391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ERD: invoices and payments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CB2A70C-709C-487A-96DA-EA50769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2654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 sz="172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A56537-02A1-4C66-A8C3-87EAC8E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04A5CB-0BFD-480D-8941-3CDF2833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C20232-926A-4329-A370-46E9667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invoice_​items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CD3BEB1-19B7-410F-B865-61A01AA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D19EA5-F239-4843-A837-359A74E2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A1B6BCA0-0259-4692-BA1E-723461C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A13F4A-00CA-4294-B12E-5BF8D22B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E7350D-5FC2-4734-8E10-F957A6D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4484500-498B-4476-A927-3A38F50B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41C8B-4A23-4CC6-BD98-F22FACC4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app_​users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B71E744A-4E7C-4912-A3AE-6D93115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FF1C13-CC13-42BC-B4A5-09AED8B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6C60E862-7F91-486F-84D7-6713C449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D49BBC7-3B67-43E8-8855-19907407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76575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0..* : 1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A26C4BF-7305-4C2E-A60E-2261B3E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87E627A-0C13-451F-9FF7-C8E0673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01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solidFill>
              <a:srgbClr val="A3A3A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invoices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F59C0B3-A81E-40B3-AD46-F854CB8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4347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3F88BB1-6FA7-409B-8691-6FE3383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933450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0..1 : 0..*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492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F05D30B-BD93-4270-BBB0-177EB9B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AA9E47-8A30-40BD-AF93-39CF010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Keys and data integrity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1E687E-D5D3-4D9D-AFD7-FB6DE1EA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controls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5E5E12-7CEF-4273-A8A6-4F3F2C8D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keys identify each record
Foreign keys protect relationships
Unique serial and receipt numbers
Positive quantities and payments
Valid warranty and due dates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09B054E-9596-4009-AD25-4478D6B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controls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969F7C-9EE0-4536-A376-1D0C4BA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active placement per unit
Only eligible jobs can complete
Invoice and installation customer agree
Payments cannot exceed the balance
Historical records remain available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487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F2F0741-23AF-49DA-B4D9-78FAB6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A8F3556-6EE6-412F-B0C2-148E9120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Normalization to 3NF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DC6CCB-1992-43FE-9BB6-FC5F407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Starting worksheet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7B5E99-2268-4795-BA5A-6F5F199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2008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single installation row repeats customer details and contains lists of equipment and technicians.
Lists and repeated details make updates unreliable.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936FC8-608D-4913-92F6-7C4F0D59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Normalization steps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53475C-642C-4AF8-80D7-1B31EDA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1NF: one value per field
2NF: separate attributes that depend on only part of a composite key
3NF: separate customer, site and equipment-type details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718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BD6FC18-54AE-4844-8FC5-67DE500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CF97DB-F1DA-4257-B63D-81A5FE9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Completing an installation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5435EC1-DD07-49F4-B140-D3E9FE3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Within one transaction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2D9D3B-D127-4614-9FB3-7DF475FB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1. Lock the job and selected units
2. Validate job, technician and stock
3. Insert equipment placements
4. Update equipment availability
5. Mark the job completed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D4F9BB-5C56-41A8-A683-C7C60EF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demonstration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B586F8-B0E6-4F09-896B-E2609AC2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2008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 38 was available; unit 41 was already installed.
Error 1644 triggered rollback. No placements or status changes remained.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708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1FBF80-6E88-4B1A-90C6-91FCC434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2A9CFF-62DC-4684-856B-D651970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ACID in the installation transaction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Table 3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853440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SolarGrid example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Atomicity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All placement and status changes succeed together or roll back.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Consistency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Only available equipment receives an active placement.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Isolation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Locks prevent competing staff from allocating the same unit.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Durability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Committed changes persist through database storage and recovery settings.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974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B369DB6-6979-4C2C-A378-9070E34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049429-20CC-46F6-9CA7-A9A606A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Invoices and payment control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2BC1BD-C9D1-4BE6-A679-2FB9CE0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Balance calculation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62240E-6B17-4641-B20F-74BA55F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2008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 total = sum of rounded line totals
Outstanding balance = invoice total minus payments
Keep agreed prices on invoice lines.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DB9AAB-BB51-4E55-B505-1455E6C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transaction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54BBA7-F023-4BA2-A741-BB6A4C9B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 the issued invoice
Calculate its current balance
Reject overpayment
Insert a unique receipt
Commit the payment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5400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31F7C12-62AC-472F-8745-BD47399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995AAB-4959-4A84-9AE8-AC5F4F63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Reports and database views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Table 3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85344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  <a:endPara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25252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Expiring warranties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Which currently installed units need attention soon?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Unresolved requests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Which service problems remain open?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Technician workload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many open jobs does each technician have?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balances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 owes money and which invoices are overdue?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Payments by period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much cash did SolarGrid receive?</a:t>
                      </a:r>
                      <a:endParaRPr sz="1875" b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76200" marB="76200">
                    <a:lnL w="3175" cmpd="sng">
                      <a:solidFill>
                        <a:srgbClr val="000000"/>
                      </a:solidFill>
                    </a:lnL>
                    <a:lnR w="3175" cmpd="sng">
                      <a:solidFill>
                        <a:srgbClr val="000000"/>
                      </a:solidFill>
                    </a:lnR>
                    <a:lnT w="3175" cmpd="sng">
                      <a:solidFill>
                        <a:srgbClr val="000000"/>
                      </a:solidFill>
                    </a:lnT>
                    <a:lnB w="3175" cmpd="sng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5330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D197C32-350B-441B-996B-11525D8C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CEDDE9-899D-4E9D-8152-B933A9DE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Security, indexing and recovery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AC4F62-4576-408D-B3F6-BC48533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and performance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78BBB2-17B5-4748-A6DD-C00C7CD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ADMIN, OPERATIONS, ACCOUNTS
Separate database privileges
Password hashes and external credentials
Indexes for job status, due dates and warranty expiry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63912E-EC2F-4E09-BAAD-8D87C5A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and recovery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823126-85DF-45F5-8E37-44710F6A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3388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 the database
Restore to a separate test database
Check representative records
Explain possible loss since the last backup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4801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57ED46-0830-4C82-A471-C043BC8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F63A495-6D8F-4FC3-B34F-42CF685D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and evidence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2E19C4-F45C-4840-9304-241A039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solution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4CDD5B2-5A93-499C-948E-D3865A8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3388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 26.7 classroom server
15 tables with sample data
Two views and two procedures
Flask application and reports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D7A893-1F2B-4AFB-8DA6-C9C46F27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evidence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1BAF6F-EFA1-468A-9267-25F57BDB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73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Worked normalization
CRUD, joins and a subquery
Two views and two procedures
Rollback, privileges and restoration
Individual explanation by each member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724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1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members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Christopher Saputu - 127284
Sailus Chileshe - 127-503
Kamwi Abraham - 125078
Nathan Kamalondo - 104-910
Alpha Musausheni - 125869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Cavendish University Zambia
IT212 Database Management Systems
Mrs Memory Mumbi Lumbwe
Assignment 1 and CAT1
Deadline: 12 October 2026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Worked normalization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1NF to 2NF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InstallationID + TechnicianID identifies an assignment.
TechnicianID determines TechnicianName: move the name into technicians.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2NF to 3NF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SiteID determines CustomerID; CustomerID determines CustomerName.
Store customer details in customers and site details in sites.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demonstrations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Queries to explain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988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INNER JOIN: customer and installation history
LEFT JOIN: retain technicians with zero work
GROUP BY: monthly payment receipts
Subquery: customers without invoices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files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988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03_check_data_and_reports.sql
04_create_views.sql
05_create_procedures.sql
Explain query output and business purpose, not only syntax.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September demonstration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 installation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Sunrise Demo School: customer 14
Main Campus: site 18
Installation 18: COMPLETED
Unit 62: INSTALLED
Request 52: RESOLVED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 and payment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Invoice total: ZMW 3,000
Paid: ZMW 1,000
Outstanding: ZMW 2,000
Overpayment rejected
September receipts: ZMW 2,200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Rollback and least privilege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Atomicity test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Restored database: job 13
Unit 38 available; unit 41 installed
Error 1644 rejected completion
Unit 38 remained AVAILABLE
No placements were retained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Reporting account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988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on invoice view succeeded.
UPDATE on customers failed with error 1142.
Only required privileges are granted.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 comparison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Scheduling index used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Index: status, scheduled_at
Index lookup
Estimated rows: 2
Estimated cost: 0.7
No separate sort shown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 ignored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 scan, filter and sort
Estimated rows scanned: 17
Estimated cost: 1.95
Costs are estimates, not timings.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and recovery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Snapshot restored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September 30 backup
Separate restore database
Job 18 and unit 62 matched
Service 52 and maintenance matched
Invoice: 1,000 paid; 2,000 due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Recovery limits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 changes can be lost.
No point-in-time recovery tested.
Recreate database users and grants.
Protect stored password hashes.
Not every restored row was compared.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NoSQL and remaining limits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complement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A document database could hold variable inspection notes or telemetry.
Keep billing and equipment allocation in MySQL. NoSQL is not implemented.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Unverified cases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Technician creation live test
Concurrent allocation and payments
Malformed procedure inputs
Crash recovery
Production deployment security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04FCFA-29D2-40E1-902E-ACA577E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  <a:endParaRPr sz="9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44768-DEBD-46C8-ABF6-657CCF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484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  <a:endParaRPr sz="3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0F03DB-560E-4331-AFD3-78480A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Sources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CE9DE-4FE4-49FF-9549-5B92FF1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Lumbwe (2026): IT212 assignment brief
Codd (1970): relational model
Oracle (n.d.): MySQL documentation
Pallets (n.d.): Flask security
MongoDB (n.d.): embedded data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D576BA-6DDC-4448-9050-98F5B02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evidence</a:t>
            </a:r>
            <a:endParaRPr sz="22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2440FA-E9A9-48DF-A991-9A9ED2B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476875" cy="165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SolarGrid Group 1 (2026): source, screenshots and operator-confirmed tests.
Full Harvard references appear in the technical report.</a:t>
            </a:r>
            <a:endParaRPr sz="2175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445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B3FD8-C866-41E5-919F-363E5739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38755"/>
            <a:ext cx="9448800" cy="946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615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</a:t>
            </a:r>
            <a:endParaRPr sz="61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2544CD-F5E6-4676-9E59-1425048D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973320"/>
            <a:ext cx="35687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on the implemented system</a:t>
            </a:r>
            <a:endParaRPr sz="195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schema: technical report and SQL</a:t>
            </a:r>
            <a:endParaRPr sz="19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8F5540-288A-46C1-B95F-44BDA7B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SolarGrid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5135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2026-10-01T17:40:21.4640000Z</dcterms:created>
  <dcterms:modified xsi:type="dcterms:W3CDTF">2026-10-01T17:40:21.4640000Z</dcterms:modified>
</coreProperties>
</file>